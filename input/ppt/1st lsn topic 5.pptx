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63840" y="0"/>
            <a:ext cx="4334256" cy="685800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58200" y="822960"/>
            <a:ext cx="3063240" cy="5212080"/>
          </a:xfrm>
          <a:prstGeom prst="roundRect">
            <a:avLst/>
          </a:prstGeom>
          <a:solidFill>
            <a:srgbClr val="19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23960" y="1207008"/>
            <a:ext cx="2331720" cy="1005840"/>
          </a:xfrm>
          <a:prstGeom prst="round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64040" y="2468880"/>
            <a:ext cx="2011680" cy="1005840"/>
          </a:xfrm>
          <a:prstGeom prst="round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0" y="3749039"/>
            <a:ext cx="2606040" cy="1417320"/>
          </a:xfrm>
          <a:prstGeom prst="round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21792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100" b="1">
                <a:solidFill>
                  <a:srgbClr val="CAE76F"/>
                </a:solidFill>
                <a:latin typeface="Aptos"/>
              </a:defRPr>
            </a:pPr>
            <a:r>
              <a:t>COURSE • MASTERING APPLIED DESIGN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6858000" cy="18288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Aptos"/>
              </a:defRPr>
            </a:pPr>
            <a:r>
              <a:t>See the person.</a:t>
            </a:r>
          </a:p>
          <a:p>
            <a:pPr>
              <a:defRPr sz="3300" b="1">
                <a:solidFill>
                  <a:srgbClr val="FFFFFF"/>
                </a:solidFill>
                <a:latin typeface="Aptos"/>
              </a:defRPr>
            </a:pPr>
            <a:r>
              <a:t>Tell the story.</a:t>
            </a:r>
          </a:p>
          <a:p>
            <a:pPr>
              <a:defRPr sz="3300" b="1">
                <a:solidFill>
                  <a:srgbClr val="FFFFFF"/>
                </a:solidFill>
                <a:latin typeface="Aptos"/>
              </a:defRPr>
            </a:pPr>
            <a:r>
              <a:t>Design for progress.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6583680" cy="7315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LESSON 01  /  INTRODUCTION TO DESIGN THINKING PRINCIPLES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4846320"/>
            <a:ext cx="731520" cy="64008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138928"/>
            <a:ext cx="676656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SUBTOPIC  •  USER PERSONAS AND STORIES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Intermediate | CO: Understand and apply design-thinking principles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01 /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Personas and stories connect design to real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233172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COURSE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Understand and apply design-thinking principles.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2272" y="1828800"/>
            <a:ext cx="64008" cy="233172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Represent user patterns and express needs in a shared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1828800"/>
            <a:ext cx="64008" cy="233172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DESIGN LENS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Keep every persona and story traceable to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Personas describe who and context; stories describe desired progress and why it matters.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01 /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Learning outcomes: research to requirement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6420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SYNTHESIZE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Build a persona from observed and reported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64208"/>
            <a:ext cx="64008" cy="123444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ARTICULATE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Write a user story with goal and benefit.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64008" cy="123444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Check assumptions through interviews and field visits.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8152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Use stories to guide a MUP and value proposition.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Intermediate practice means treating personas and stories as revisable hypotheses.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02 / 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What a persona is—and what it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233172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Evidence-based representation of a meaningful user group.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2272" y="1828800"/>
            <a:ext cx="64008" cy="233172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INCLUDES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Context, goals, behaviors, needs, constraints.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1828800"/>
            <a:ext cx="64008" cy="233172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IS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A fictional biography or stereotype.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Build personas around meaningful differences in needs and behavior, not decorative detail.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02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Research before you write the persona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6420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INTERVIEWS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Hear stories about real recent experiences.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64208"/>
            <a:ext cx="64008" cy="123444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FIELD VISITS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Observe tools, workarounds, interruptions, handoffs.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64008" cy="123444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Cluster patterns across participants and sources.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8152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TRACE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Record evidence and confidence behind each claim.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Avoid turning one participant into a representative user group.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02 / PERSONA 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Persona anatomy: context before demographics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6420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When and where does the need occur?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64208"/>
            <a:ext cx="64008" cy="123444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What progress is the person trying to make?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64008" cy="123444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BEHAVIORS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What do they currently do or avoid?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8152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FRICTIONS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What constraints or unmet needs recur?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Demographics belong only when they inform a real design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03 /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Example persona: Alex, marketing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233172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ROLE /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Marketing manager selling digital products; coordinates campaigns across channels.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2272" y="1828800"/>
            <a:ext cx="64008" cy="233172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Streamline operations and improve customer engagement.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1828800"/>
            <a:ext cx="64008" cy="233172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FRICTIONS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Manual scheduling; fragmented performance view; limited planning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Treat Alex as a synthesis of a target group—not a verified individual without research.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03 /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Avoid persona traps: stereotypes and false precision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233172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NO ASSUMPTION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Do not invent preferences from age, job, or 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2272" y="1828800"/>
            <a:ext cx="64008" cy="233172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SHOW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Capture meaningful variation inside the group.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1828800"/>
            <a:ext cx="64008" cy="233172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LABEL UNCERTAINTY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Separate evidence, inference, and open questions.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A useful persona supports decisions while making uncertainty visible.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04 / USER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User stories: capture progress in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6420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As a [user/context], I want [goal], so that [benefit].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64208"/>
            <a:ext cx="64008" cy="123444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Whose perspective and situation?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64008" cy="123444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What progress do they want—not a feature list?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8152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BENEFIT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Why does that outcome matter?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Stories are conversation starters and planning aids, not complete specifications.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04 /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Alex stories: from task to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233172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As a marketing manager, I want to compare campaign performance across channels so I can decide where to invest.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2272" y="1828800"/>
            <a:ext cx="64008" cy="233172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SCHEDULING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As a campaign owner, I want to schedule launches in advance so I can protect time for strategy.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1828800"/>
            <a:ext cx="64008" cy="233172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As a manager, I want to notice campaign status changes so I can act when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Check each story with real users; feature requests can mask deeper needs.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04 /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Improve a story: make goal and context specific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233172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VAGUE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As a user, I want analytics so I can do better.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2272" y="1828800"/>
            <a:ext cx="64008" cy="233172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CLEARER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As a marketing manager reviewing campaigns each morning, I want a current cross-channel view so I can spot underperforming spend.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1828800"/>
            <a:ext cx="64008" cy="233172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What counts as current? Which decision follows?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Specificity improves testability without dictating the final 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05 / STORY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Acceptance criteria make stories testable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6420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What should the user be able to accomplish?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64208"/>
            <a:ext cx="64008" cy="123444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What observable result indicates success?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64008" cy="123444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BOUNDARIES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What edge case or accessibility need matters?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8152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How will we verify the behavior with users?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Acceptance criteria clarify “done”; they should not replace user validation.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06 /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Activity: customer development interviews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6420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Recruit relevant users; ask about recent campaign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64208"/>
            <a:ext cx="64008" cy="123444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INTERVIEW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Explore how performance is checked and scheduling is handled.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64008" cy="123444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FIELD VISIT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Observe dashboard use, tools, interruptions, workarounds.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8152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SYNTHESIZE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Update persona evidence and draft stories.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Ask open questions; protect privacy; record quotes separately from interpretation.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06 /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Turn interview notes into persona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6420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Alex checks the dashboard each morning.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64208"/>
            <a:ext cx="64008" cy="123444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FRICTION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Manual scheduling consumes time; deadlines are missed.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64008" cy="123444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Less time remains for strategic planning.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8152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How often? Which campaigns? What current workarounds?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Do not promote a single note to a persona-wide truth without triangulation.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07 / APPLIED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Map a story to a Minimum Usable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6420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“I want a current view to make timely campaign decisions.”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64208"/>
            <a:ext cx="64008" cy="123444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MUP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Low-fidelity dashboard with a few campaign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64008" cy="123444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TEST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Ask a marketer to identify a campaign needing attention.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8152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Observe comprehension, decision confidence, missing context.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Prototype the smallest experience that can answer the riskiest question.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07 /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Value proposition: connect user, need,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233172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Marketing managers coordinating digital campaigns.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2272" y="1828800"/>
            <a:ext cx="64008" cy="233172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Manual scheduling and fragmented tracking consume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1828800"/>
            <a:ext cx="64008" cy="233172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PROMISE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23160"/>
            <a:ext cx="2971800" cy="167335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See campaign performance and status to make timely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Test whether the promise resonates and whether the prototype delivers the outcome.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08 / CONCEPT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Concept generation: explore beyond the first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6420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CONCEPT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Unified performance overview.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64208"/>
            <a:ext cx="64008" cy="123444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CONCEPT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Scheduling workflow with deadline cues.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64008" cy="123444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CONCEPT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Status alerts tuned to user-selected events.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8152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User value, evidence, feasibility, trade-offs.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Stories define the progress to support; they do not prescribe only one concept.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09 /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Systems thinking: personas live in a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6420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ACTORS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Marketer, team, platform, customer, ad channels.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64208"/>
            <a:ext cx="64008" cy="123444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Campaign data, approvals, budgets, notifications.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64008" cy="123444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Performance informs spend; delayed delivery may erode trust.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8152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Which parts can the design influence?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Map dependencies and feedback loops before optimizing one user’s screen.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10 /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Persona and story review: a team exercise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6420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Review a persona and find claims without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64208"/>
            <a:ext cx="64008" cy="123444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REWRITE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Choose one story; make its goal and benefit testable.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64008" cy="123444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TRACE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Link each part to an interview or observation.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8152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Name what still needs user validation.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Deliverable: one revised persona insight, one story, and one test question.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000" b="1">
                <a:solidFill>
                  <a:srgbClr val="008985"/>
                </a:solidFill>
                <a:latin typeface="Aptos"/>
              </a:defRPr>
            </a:pPr>
            <a:r>
              <a:t>11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2700" b="1">
                <a:solidFill>
                  <a:srgbClr val="192A37"/>
                </a:solidFill>
                <a:latin typeface="Aptos"/>
              </a:defRPr>
            </a:pPr>
            <a:r>
              <a:t>Close: keep the person visible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" cy="54864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800" b="1">
                <a:solidFill>
                  <a:srgbClr val="5D6F79"/>
                </a:solidFill>
                <a:latin typeface="Aptos"/>
              </a:defRPr>
            </a:pPr>
            <a:r>
              <a:t>MASTERING APPLIED DESIGN THINKING  •  LESSON 01 / PERSONAS &amp;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>
              <a:defRPr sz="1000" b="1">
                <a:solidFill>
                  <a:srgbClr val="5D6F79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6420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Ground representations in real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6420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64208"/>
            <a:ext cx="64008" cy="1234440"/>
          </a:xfrm>
          <a:prstGeom prst="rect">
            <a:avLst/>
          </a:prstGeom>
          <a:solidFill>
            <a:srgbClr val="EF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SYNTHESIZE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Show patterns, context, and uncertainty.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64008" cy="1234440"/>
          </a:xfrm>
          <a:prstGeom prst="rect">
            <a:avLst/>
          </a:prstGeom>
          <a:solidFill>
            <a:srgbClr val="CAE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COMMUNICATE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Use stories to express progress and value.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81528"/>
            <a:ext cx="50749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81528"/>
            <a:ext cx="64008" cy="12344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18688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500" b="1">
                <a:solidFill>
                  <a:srgbClr val="192A37"/>
                </a:solidFill>
                <a:latin typeface="Aptos"/>
              </a:defRPr>
            </a:pPr>
            <a:r>
              <a:t>ITERATE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4709159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defRPr sz="1300" b="0">
                <a:solidFill>
                  <a:srgbClr val="5D6F79"/>
                </a:solidFill>
                <a:latin typeface="Aptos"/>
              </a:defRPr>
            </a:pPr>
            <a:r>
              <a:t>Update personas and stories as evidence changes.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>
              <a:defRPr sz="1500" b="1">
                <a:solidFill>
                  <a:srgbClr val="008985"/>
                </a:solidFill>
                <a:latin typeface="Aptos"/>
              </a:defRPr>
            </a:pPr>
            <a:r>
              <a:t>Before building a feature, ask: whose goal does this serve, and what evidence supports it?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Applied Design Thinking — Lesson 1: User Personas and Stories</dc:title>
  <dc:subject>Intermediate course lesson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